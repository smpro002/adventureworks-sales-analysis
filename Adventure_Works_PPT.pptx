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846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1" descr="icon_bike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952" y="1609344"/>
            <a:ext cx="621792" cy="6217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2788920"/>
            <a:ext cx="116430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ADVENTURE WORKS</a:t>
            </a:r>
            <a:endParaRPr lang="en-US" sz="6600" dirty="0"/>
          </a:p>
        </p:txBody>
      </p:sp>
      <p:sp>
        <p:nvSpPr>
          <p:cNvPr id="6" name="Text 2"/>
          <p:cNvSpPr/>
          <p:nvPr/>
        </p:nvSpPr>
        <p:spPr>
          <a:xfrm>
            <a:off x="0" y="397764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Y C L E S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0" y="48920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A L E S   A N A L Y S I S   &amp;   B U S I N E S S   I N T E L L I G E N C E   P R O J E C 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Round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280160" y="1773936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8" name="Image 1" descr="icon_boo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85623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01952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Details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253288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1280160" y="2615184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12" name="Image 2" descr="icon_fileText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269748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01952" y="25328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7200" y="337413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1280160" y="3456432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16" name="Image 3" descr="icon_target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53872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901952" y="33741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7200" y="421538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Shape 13"/>
          <p:cNvSpPr/>
          <p:nvPr/>
        </p:nvSpPr>
        <p:spPr>
          <a:xfrm>
            <a:off x="1280160" y="4297680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20" name="Image 4" descr="icon_grid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437997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901952" y="42153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57200" y="505663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Shape 16"/>
          <p:cNvSpPr/>
          <p:nvPr/>
        </p:nvSpPr>
        <p:spPr>
          <a:xfrm>
            <a:off x="1280160" y="5138928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24" name="Image 5" descr="icon_barChart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" y="5221224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901952" y="5056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080760" y="16916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Shape 19"/>
          <p:cNvSpPr/>
          <p:nvPr/>
        </p:nvSpPr>
        <p:spPr>
          <a:xfrm>
            <a:off x="6903720" y="1773936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28" name="Image 6" descr="icon_pieChart_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1856232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25512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6080760" y="253288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1" name="Shape 22"/>
          <p:cNvSpPr/>
          <p:nvPr/>
        </p:nvSpPr>
        <p:spPr>
          <a:xfrm>
            <a:off x="6903720" y="2615184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32" name="Image 7" descr="icon_database_go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697480"/>
            <a:ext cx="310896" cy="31089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525512" y="25328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</a:t>
            </a:r>
            <a:endParaRPr lang="en-US" sz="1600" dirty="0"/>
          </a:p>
        </p:txBody>
      </p:sp>
      <p:sp>
        <p:nvSpPr>
          <p:cNvPr id="34" name="Text 24"/>
          <p:cNvSpPr/>
          <p:nvPr/>
        </p:nvSpPr>
        <p:spPr>
          <a:xfrm>
            <a:off x="6080760" y="337413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5" name="Shape 25"/>
          <p:cNvSpPr/>
          <p:nvPr/>
        </p:nvSpPr>
        <p:spPr>
          <a:xfrm>
            <a:off x="6903720" y="3456432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36" name="Image 8" descr="icon_trendingUp_go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3538728"/>
            <a:ext cx="310896" cy="31089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525512" y="33741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6080760" y="421538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39" name="Shape 28"/>
          <p:cNvSpPr/>
          <p:nvPr/>
        </p:nvSpPr>
        <p:spPr>
          <a:xfrm>
            <a:off x="6903720" y="4297680"/>
            <a:ext cx="0" cy="47548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pic>
        <p:nvPicPr>
          <p:cNvPr id="40" name="Image 9" descr="icon_checkCircle_gol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4379976"/>
            <a:ext cx="310896" cy="31089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525512" y="42153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2" name="Text 3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22563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Details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63728" y="195681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386688" y="2048256"/>
            <a:ext cx="0" cy="457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15288" y="195681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Drishya K </a:t>
            </a:r>
          </a:p>
        </p:txBody>
      </p:sp>
      <p:sp>
        <p:nvSpPr>
          <p:cNvPr id="9" name="Text 6"/>
          <p:cNvSpPr/>
          <p:nvPr/>
        </p:nvSpPr>
        <p:spPr>
          <a:xfrm>
            <a:off x="6507328" y="195681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330288" y="2048256"/>
            <a:ext cx="0" cy="457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58888" y="195681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Kota Sruthi Keerthi</a:t>
            </a:r>
          </a:p>
        </p:txBody>
      </p:sp>
      <p:sp>
        <p:nvSpPr>
          <p:cNvPr id="12" name="Text 9"/>
          <p:cNvSpPr/>
          <p:nvPr/>
        </p:nvSpPr>
        <p:spPr>
          <a:xfrm>
            <a:off x="563728" y="285292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386688" y="2944368"/>
            <a:ext cx="0" cy="457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15288" y="28529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Kaluva Srikanth</a:t>
            </a:r>
          </a:p>
        </p:txBody>
      </p:sp>
      <p:sp>
        <p:nvSpPr>
          <p:cNvPr id="15" name="Text 12"/>
          <p:cNvSpPr/>
          <p:nvPr/>
        </p:nvSpPr>
        <p:spPr>
          <a:xfrm>
            <a:off x="6507328" y="285292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30288" y="2944368"/>
            <a:ext cx="0" cy="457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58888" y="28529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Namrata B Yadav</a:t>
            </a:r>
          </a:p>
        </p:txBody>
      </p:sp>
      <p:sp>
        <p:nvSpPr>
          <p:cNvPr id="18" name="Text 15"/>
          <p:cNvSpPr/>
          <p:nvPr/>
        </p:nvSpPr>
        <p:spPr>
          <a:xfrm>
            <a:off x="563728" y="37490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386688" y="3840480"/>
            <a:ext cx="0" cy="457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15288" y="3749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Manish Kumar Sahu</a:t>
            </a:r>
          </a:p>
        </p:txBody>
      </p:sp>
      <p:sp>
        <p:nvSpPr>
          <p:cNvPr id="21" name="Text 18"/>
          <p:cNvSpPr/>
          <p:nvPr/>
        </p:nvSpPr>
        <p:spPr>
          <a:xfrm>
            <a:off x="6507328" y="37490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330288" y="3840480"/>
            <a:ext cx="0" cy="457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58888" y="3749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Shashank S M</a:t>
            </a:r>
          </a:p>
        </p:txBody>
      </p:sp>
      <p:sp>
        <p:nvSpPr>
          <p:cNvPr id="24" name="Text 21"/>
          <p:cNvSpPr/>
          <p:nvPr/>
        </p:nvSpPr>
        <p:spPr>
          <a:xfrm>
            <a:off x="563728" y="46451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1386688" y="4736592"/>
            <a:ext cx="0" cy="4572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15288" y="464515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Mohamed Yasin Bekinalkar</a:t>
            </a:r>
          </a:p>
        </p:txBody>
      </p:sp>
      <p:sp>
        <p:nvSpPr>
          <p:cNvPr id="27" name="Text 2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6126480" cy="4480560"/>
          </a:xfrm>
          <a:prstGeom prst="roundRect">
            <a:avLst>
              <a:gd name="adj" fmla="val 1837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9659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Cycles </a:t>
            </a:r>
            <a:r>
              <a:rPr lang="en-US" sz="13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large, multinational manufacturer of metal and composite bicycles serving North American, European and Asian commercial markets, headquartered in Bothell, Washington.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goal: </a:t>
            </a:r>
            <a:r>
              <a:rPr lang="en-US" sz="13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market share by targeting top customers, extending product availability online, and reducing cost of sales through lower production costs.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team delivered: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4348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unified sales data model from raw Internet Sales data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date, sales, cost &amp; profit calculations end-to-end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parallel dashboards in Excel, Power BI, Tableau &amp; SQL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KPIs for sales, profit, orders and customer performance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03720" y="1691640"/>
            <a:ext cx="4830775" cy="4480560"/>
          </a:xfrm>
          <a:prstGeom prst="roundRect">
            <a:avLst>
              <a:gd name="adj" fmla="val 1837"/>
            </a:avLst>
          </a:prstGeom>
          <a:solidFill>
            <a:srgbClr val="222222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0" y="1874520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pic>
        <p:nvPicPr>
          <p:cNvPr id="13" name="Image 1" descr="data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286000"/>
            <a:ext cx="4373575" cy="23997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4914386"/>
            <a:ext cx="4373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Product, Customer &amp; Date tables related into a single analytical model, powering every dashboard.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MATTER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Overview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10032" y="178308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8632" y="2039112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8" name="Image 1" descr="icon_dollar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94" y="2175175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2912" y="27432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453232" y="178308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81832" y="2039112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2" name="Image 2" descr="icon_trendingUp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894" y="2175175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36112" y="27432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96432" y="178308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425032" y="2039112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3" descr="icon_cart_bl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094" y="2175175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79312" y="27432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8939632" y="178308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168232" y="2039112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0" name="Image 4" descr="icon_percent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4294" y="2175175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22512" y="27432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710032" y="384048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38632" y="4096512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4" name="Image 5" descr="icon_target_bl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694" y="4232575"/>
            <a:ext cx="294803" cy="29480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2912" y="48006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3453232" y="384048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81832" y="4096512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8" name="Image 6" descr="icon_barChart_bla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7894" y="4232575"/>
            <a:ext cx="294803" cy="29480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636112" y="48006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 Cost</a:t>
            </a:r>
            <a:endParaRPr lang="en-US" sz="1450" dirty="0"/>
          </a:p>
        </p:txBody>
      </p:sp>
      <p:sp>
        <p:nvSpPr>
          <p:cNvPr id="30" name="Shape 21"/>
          <p:cNvSpPr/>
          <p:nvPr/>
        </p:nvSpPr>
        <p:spPr>
          <a:xfrm>
            <a:off x="6196432" y="384048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425032" y="4096512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2" name="Image 7" descr="icon_users_bla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1094" y="4232575"/>
            <a:ext cx="294803" cy="29480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379312" y="48006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50" dirty="0"/>
          </a:p>
        </p:txBody>
      </p:sp>
      <p:sp>
        <p:nvSpPr>
          <p:cNvPr id="34" name="Shape 24"/>
          <p:cNvSpPr/>
          <p:nvPr/>
        </p:nvSpPr>
        <p:spPr>
          <a:xfrm>
            <a:off x="8939632" y="384048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D4AF37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25"/>
          <p:cNvSpPr/>
          <p:nvPr/>
        </p:nvSpPr>
        <p:spPr>
          <a:xfrm>
            <a:off x="9140800" y="4005072"/>
            <a:ext cx="21396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above is broken down by Year, Quarter, Month, Country &amp; Region across all four tools.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01 /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47472" y="1673352"/>
            <a:ext cx="7123176" cy="2687032"/>
          </a:xfrm>
          <a:prstGeom prst="roundRect">
            <a:avLst>
              <a:gd name="adj" fmla="val 3063"/>
            </a:avLst>
          </a:prstGeom>
          <a:solidFill>
            <a:srgbClr val="222222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1" descr="excel_d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83080"/>
            <a:ext cx="6903720" cy="24675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69164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FORMULAS, PIVOTS &amp; CHARTS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772400" y="2103120"/>
            <a:ext cx="3962095" cy="214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of Fact Internet Sales tables into one master sheet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for Product, Customer &amp; Unit Price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table: Year, Month, Quarter, Weekday, Financial period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Sales Amount, Production Cost &amp; Profit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with Year filter for month-wise sales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Pie &amp; combo (Sales vs Cost) charts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for Sales, Profit, Orders, Margin &amp; AOV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02 /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7772400" y="169164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WITH POWER QUERY &amp; DAX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772400" y="2103120"/>
            <a:ext cx="3962095" cy="214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 built in Power Query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for Sales, Profit, Margin &amp; AOV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slicers: Year, Quarter, Month &amp; Country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sales &amp; customer map visuals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Drill-through: Sales Analysis to Customer &amp; Orders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orders &amp; by sales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Bookmark-based navigation across report pages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E9CAF62-9B74-A025-3FD0-A7806A536A1F}"/>
              </a:ext>
            </a:extLst>
          </p:cNvPr>
          <p:cNvSpPr/>
          <p:nvPr/>
        </p:nvSpPr>
        <p:spPr>
          <a:xfrm>
            <a:off x="347472" y="1673352"/>
            <a:ext cx="7123176" cy="3760702"/>
          </a:xfrm>
          <a:prstGeom prst="roundRect">
            <a:avLst>
              <a:gd name="adj" fmla="val 3063"/>
            </a:avLst>
          </a:prstGeom>
          <a:solidFill>
            <a:srgbClr val="222222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D80241-4064-54DB-081B-1F44A32D7D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" t="1337" b="-1"/>
          <a:stretch>
            <a:fillRect/>
          </a:stretch>
        </p:blipFill>
        <p:spPr>
          <a:xfrm>
            <a:off x="579151" y="1865376"/>
            <a:ext cx="6659818" cy="3376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03 /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65760" y="1783080"/>
            <a:ext cx="5661508" cy="3295296"/>
          </a:xfrm>
          <a:prstGeom prst="roundRect">
            <a:avLst>
              <a:gd name="adj" fmla="val 2497"/>
            </a:avLst>
          </a:prstGeom>
          <a:solidFill>
            <a:srgbClr val="222222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1" descr="tableau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20"/>
            <a:ext cx="5478628" cy="27923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740048"/>
            <a:ext cx="5478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Analysis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64428" y="1783080"/>
            <a:ext cx="5661508" cy="3301784"/>
          </a:xfrm>
          <a:prstGeom prst="roundRect">
            <a:avLst>
              <a:gd name="adj" fmla="val 2492"/>
            </a:avLst>
          </a:prstGeom>
          <a:solidFill>
            <a:srgbClr val="222222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0" name="Image 2" descr="tableau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868" y="1874520"/>
            <a:ext cx="5478628" cy="27988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55868" y="4746536"/>
            <a:ext cx="5478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Orders Analysis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57200" y="5176304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 for Sales, Profit &amp; Margin  •  Country map &amp; Top-10 customer ranking  •  Filter actions across Year, Quarter, Month &amp; Country  •  Dashboard navigation actions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04 /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Scripts</a:t>
            </a:r>
            <a:endParaRPr lang="en-US" sz="3200" dirty="0"/>
          </a:p>
        </p:txBody>
      </p:sp>
      <p:pic>
        <p:nvPicPr>
          <p:cNvPr id="7" name="Image 1" descr="icon_databas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760" y="201168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0AFBB1CC-4F1B-D4B3-79D5-D0BB5B32C2EA}"/>
              </a:ext>
            </a:extLst>
          </p:cNvPr>
          <p:cNvSpPr/>
          <p:nvPr/>
        </p:nvSpPr>
        <p:spPr>
          <a:xfrm>
            <a:off x="347471" y="1673352"/>
            <a:ext cx="11569903" cy="4471416"/>
          </a:xfrm>
          <a:prstGeom prst="roundRect">
            <a:avLst>
              <a:gd name="adj" fmla="val 3063"/>
            </a:avLst>
          </a:prstGeom>
          <a:solidFill>
            <a:srgbClr val="222222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106A6E-D309-3890-2094-3AD1ADCCC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71" y="1883571"/>
            <a:ext cx="11062102" cy="4050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1" descr="icon_trendingUp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57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26974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&amp; Australia together drive over 45% of total sales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consistently records the strongest quarter-on-quarter sales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holds steady around 41% across most regions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contribute a disproportionate share of revenue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3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peaks mid-year, easing in early Q1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09360" y="1783080"/>
            <a:ext cx="5425135" cy="4480560"/>
          </a:xfrm>
          <a:prstGeom prst="roundRect">
            <a:avLst>
              <a:gd name="adj" fmla="val 1837"/>
            </a:avLst>
          </a:prstGeom>
          <a:solidFill>
            <a:srgbClr val="D4AF37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2" descr="icon_award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0574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86600" y="2075688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629400" y="2697480"/>
            <a:ext cx="47850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marketing spend in the US &amp; Australia markets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offers for the Top 10 customer segment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&amp; staffing ahead of the Q4 sales surge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production cost drivers to lift margin further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online store reach into under-performing regions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bi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489204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95148" y="178308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1180" y="2039112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8" name="Image 1" descr="icon_layers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53" y="2170786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0988" y="2020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Story, Four Tools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500988" y="24048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Adventure Works sales model was built and validated independently in Excel, Power BI, Tableau &amp; SQL.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55868" y="178308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1900" y="2039112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3" name="Image 2" descr="icon_target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573" y="217078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1708" y="2020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KPI-First Thinking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261708" y="24048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was designed around the same core KPIs, making results directly comparable across platforms.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95148" y="406908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1180" y="4325112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8" name="Image 3" descr="icon_users_bl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853" y="4456786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0988" y="4306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500988" y="46908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team members split cleanly across data prep, development and analysis for an efficient sprint.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55868" y="406908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1B1B1B"/>
          </a:solidFill>
          <a:ln/>
          <a:effectLst>
            <a:outerShdw blurRad="1016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1900" y="4325112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3" name="Image 4" descr="icon_checkCircle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573" y="4456786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1708" y="4306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Deployment-Ready Dashboards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261708" y="46908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filterable dashboards are ready to support real sales &amp; customer decisions.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1" descr="icon_bike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952" y="2112264"/>
            <a:ext cx="621792" cy="6217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0" y="422452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 |  SALES ANALYSIS PROJECT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726</Words>
  <Application>Microsoft Office PowerPoint</Application>
  <PresentationFormat>Widescreen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Adventure Works Cycles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| Sales Analysis Project</dc:title>
  <dc:subject>PptxGenJS Presentation</dc:subject>
  <dc:creator>Adventure Works Project Team</dc:creator>
  <cp:lastModifiedBy>Shashank S.M</cp:lastModifiedBy>
  <cp:revision>4</cp:revision>
  <dcterms:created xsi:type="dcterms:W3CDTF">2026-07-11T03:17:36Z</dcterms:created>
  <dcterms:modified xsi:type="dcterms:W3CDTF">2026-07-15T12:35:38Z</dcterms:modified>
</cp:coreProperties>
</file>